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301" r:id="rId4"/>
    <p:sldId id="303" r:id="rId5"/>
    <p:sldId id="349" r:id="rId6"/>
    <p:sldId id="304" r:id="rId7"/>
    <p:sldId id="351" r:id="rId8"/>
    <p:sldId id="287" r:id="rId9"/>
    <p:sldId id="293" r:id="rId10"/>
    <p:sldId id="274" r:id="rId11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1A8"/>
    <a:srgbClr val="FACDA0"/>
    <a:srgbClr val="FCE4CB"/>
    <a:srgbClr val="55444B"/>
    <a:srgbClr val="F5F2F8"/>
    <a:srgbClr val="F7953F"/>
    <a:srgbClr val="C5BCE1"/>
    <a:srgbClr val="818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056" autoAdjust="0"/>
  </p:normalViewPr>
  <p:slideViewPr>
    <p:cSldViewPr snapToGrid="0">
      <p:cViewPr varScale="1">
        <p:scale>
          <a:sx n="65" d="100"/>
          <a:sy n="65" d="100"/>
        </p:scale>
        <p:origin x="135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C657943-C761-4B95-AB62-AEFB0F42E3A7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82ED022-D68B-4DD0-A212-61EA84EDE6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006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205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635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4951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844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346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293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938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69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D022-D68B-4DD0-A212-61EA84EDE681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90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83211C-180C-061D-DFD5-883FE0BC8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07BF99-9AE2-FB35-662F-11C0C1E63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829922-B7F6-875E-2B24-E7169404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D2C9CE-07BD-2E4F-606E-394D8CF9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C192C6-28FD-204C-3727-81DDCB33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71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47192-EDEC-5C19-B2E0-04F86C9E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F60F41-B574-359F-AE89-8805C3F2A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9849D3-24C4-FC75-107C-131098CA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7EC56-008A-9E54-4B62-990DE1246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4162AC-D570-72ED-86B8-77EC5CE3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75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30616-3DB5-4549-BBC5-28844D8D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DE1F7D-377E-88DC-9B69-21C7F25B4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9BADD4-9B33-E5B8-AF4F-D427166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04FEFD-168B-13BA-59EE-83EABB39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0F89DC-B479-9698-0175-3ED58C4A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11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5DC10-3E50-07AD-9809-A0D2123C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9C5796-9291-B214-D206-48686DF7A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0D22E0-BBAF-0FD6-0FD9-DF5DB2EE5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97D3BE-ABB7-3917-6820-AE5006E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E0EBE7-9B8E-590C-7D96-DB030D8F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534191-0216-8A72-13EF-F1FC59D3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84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5C328-AB64-A50F-DE6E-0F343FDB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BA0BDD-6946-B766-E946-DB625A1D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5599AF-56A3-27FA-970E-47BD13A27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CA8D2B-18EB-6C1C-FAB4-141EC8011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7C6043-00B9-96AB-57C6-106F6B5C6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DE84FC-2F38-A2BB-B325-4C97C149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9A0A33-20E9-37D0-8BB0-0387B4A5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A70CECF-1D60-72E9-7CAD-812395E6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910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FFD6C-D777-38F8-1530-C1383B87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0A3258-5C93-E218-98C1-B253B599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A96299-A3A9-33C6-2A49-BB6BBA36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73B161-F0BC-EF5C-4DB5-5BA37C56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708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BEDFC5-8ABC-33B8-353E-80A2E3EBF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BAAA1C-5EEE-66F0-73CF-B35899A4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625058-1546-5FA1-8582-7497DB7D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2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72D1B-2BBD-9DB0-F64D-60D817D4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7DC52-913D-2196-D556-8D3C3969B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CEC704-79A4-87DD-9EE2-63E8E28B9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5622CA-B079-D074-EBAF-538970AF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D3A51A-76A8-C571-D516-16CB747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094755-5491-E83B-E9D7-999AA825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38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26507-AEEA-99A3-EAE9-64F1E65C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6895457-9A83-DA31-6DA3-7BCF6B015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70E96C-F806-E044-CB2F-654D32DD0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CAB120-C3F3-F20C-8CAF-0C4B91EC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E264BC-C1A1-A10A-6EE9-11E99E75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C5DC3E-DA9E-15E3-9294-27AD3D5E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431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1FD9E-5D4B-4784-D47D-6E491BAF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2B7CC9-2C5C-43FE-B733-B13B9E629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6D53BD-82EC-CA84-9AC1-63346594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503A77-4174-D0C9-680B-526FC75D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840008-44A6-6D36-B839-E60243A6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9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5EF988D-3EF2-72B2-B24F-D84ABD401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FEECC1-E427-EDC3-56A3-C6E0BBD70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B2B725-4C3B-4BE1-C497-98A682D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0417A2-C6E8-EF25-61DD-0CA5B538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1D26D1-3B5C-A3ED-73DB-AED13E5C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796AC9-17BA-5B9F-D07D-18073523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2F8F7D-BD24-AE15-D275-5E8427BBD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4A9450-B120-80B7-E922-61AC15372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4CCAC-F9FA-429D-B352-AA4D6E43027F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07252E-C1EA-F2F3-678F-78A0DBE2C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801382-6147-C3D9-697D-6DE9D1B1B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9C731-15CF-4D89-AAB4-22DAADB60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0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3762E03-342B-8113-E26B-06F32328356F}"/>
              </a:ext>
            </a:extLst>
          </p:cNvPr>
          <p:cNvGrpSpPr>
            <a:grpSpLocks noChangeAspect="1"/>
          </p:cNvGrpSpPr>
          <p:nvPr/>
        </p:nvGrpSpPr>
        <p:grpSpPr>
          <a:xfrm>
            <a:off x="9253728" y="23151"/>
            <a:ext cx="2973892" cy="1648369"/>
            <a:chOff x="11635361" y="71576"/>
            <a:chExt cx="487890" cy="270429"/>
          </a:xfrm>
        </p:grpSpPr>
        <p:pic>
          <p:nvPicPr>
            <p:cNvPr id="20" name="Grafik 17">
              <a:extLst>
                <a:ext uri="{FF2B5EF4-FFF2-40B4-BE49-F238E27FC236}">
                  <a16:creationId xmlns:a16="http://schemas.microsoft.com/office/drawing/2014/main" id="{B6B18075-7517-AD08-8096-C3D81A4FA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35E19089-9FFA-C697-7D33-B046AA99F207}"/>
                </a:ext>
              </a:extLst>
            </p:cNvPr>
            <p:cNvSpPr txBox="1"/>
            <p:nvPr/>
          </p:nvSpPr>
          <p:spPr>
            <a:xfrm>
              <a:off x="11635361" y="235969"/>
              <a:ext cx="487890" cy="106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4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</a:t>
              </a:r>
              <a:r>
                <a:rPr lang="de-DE" sz="36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 LAB</a:t>
              </a:r>
            </a:p>
          </p:txBody>
        </p:sp>
      </p:grp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726E3FFF-720C-BC8F-E611-3CB6146AE1C4}"/>
              </a:ext>
            </a:extLst>
          </p:cNvPr>
          <p:cNvSpPr/>
          <p:nvPr/>
        </p:nvSpPr>
        <p:spPr>
          <a:xfrm>
            <a:off x="8891191" y="2257230"/>
            <a:ext cx="1320800" cy="1358900"/>
          </a:xfrm>
          <a:prstGeom prst="roundRect">
            <a:avLst>
              <a:gd name="adj" fmla="val 30100"/>
            </a:avLst>
          </a:prstGeom>
          <a:effectLst>
            <a:outerShdw blurRad="76200" dist="50800" dir="10800000" sx="101000" sy="101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effectLst>
                <a:outerShdw blurRad="127000" dist="88900" dir="10800000" sx="106000" sy="106000" algn="r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65F1E67-7A86-DE37-28E9-9CB0C13E592B}"/>
              </a:ext>
            </a:extLst>
          </p:cNvPr>
          <p:cNvSpPr/>
          <p:nvPr/>
        </p:nvSpPr>
        <p:spPr>
          <a:xfrm>
            <a:off x="5657437" y="2086483"/>
            <a:ext cx="1581563" cy="1604948"/>
          </a:xfrm>
          <a:prstGeom prst="ellipse">
            <a:avLst/>
          </a:prstGeom>
          <a:effectLst>
            <a:outerShdw blurRad="76200" dist="38100" dir="10800000" sx="101000" sy="101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81ECD9B-0FE5-DB9E-2A78-90335B9B658D}"/>
              </a:ext>
            </a:extLst>
          </p:cNvPr>
          <p:cNvSpPr txBox="1"/>
          <p:nvPr/>
        </p:nvSpPr>
        <p:spPr>
          <a:xfrm>
            <a:off x="550373" y="2844225"/>
            <a:ext cx="1907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LLM-Wiki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12525E-F8FD-A85E-AC2F-6E6C32D4C600}"/>
              </a:ext>
            </a:extLst>
          </p:cNvPr>
          <p:cNvSpPr txBox="1"/>
          <p:nvPr/>
        </p:nvSpPr>
        <p:spPr>
          <a:xfrm>
            <a:off x="550373" y="3278312"/>
            <a:ext cx="41569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Ein Konzept nach </a:t>
            </a:r>
            <a:r>
              <a:rPr lang="de-DE" sz="2000" b="1" dirty="0"/>
              <a:t>Andrej Karpathy</a:t>
            </a:r>
            <a:r>
              <a:rPr lang="de-DE" sz="2000" dirty="0"/>
              <a:t> </a:t>
            </a:r>
            <a:br>
              <a:rPr lang="de-DE" sz="20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</a:br>
            <a:endParaRPr lang="de-DE" sz="20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E2160F1-9038-178C-57F9-8980C7ABD6CE}"/>
              </a:ext>
            </a:extLst>
          </p:cNvPr>
          <p:cNvSpPr txBox="1"/>
          <p:nvPr/>
        </p:nvSpPr>
        <p:spPr>
          <a:xfrm>
            <a:off x="4180883" y="1542751"/>
            <a:ext cx="391590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5000" dirty="0"/>
              <a:t>👩‍💻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F88A79-4C24-924E-E731-069FFF04B21E}"/>
              </a:ext>
            </a:extLst>
          </p:cNvPr>
          <p:cNvSpPr txBox="1"/>
          <p:nvPr/>
        </p:nvSpPr>
        <p:spPr>
          <a:xfrm>
            <a:off x="523349" y="3797791"/>
            <a:ext cx="3937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/>
              <a:t>Oliver Welz, Christin Pfütze und Fritz Götze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F065AA5-3E17-7601-3573-D28615B41663}"/>
              </a:ext>
            </a:extLst>
          </p:cNvPr>
          <p:cNvSpPr txBox="1"/>
          <p:nvPr/>
        </p:nvSpPr>
        <p:spPr>
          <a:xfrm>
            <a:off x="8350374" y="1799167"/>
            <a:ext cx="616585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000" dirty="0"/>
              <a:t>🤖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0997F8-B7EC-A475-894D-A376F67A05F6}"/>
              </a:ext>
            </a:extLst>
          </p:cNvPr>
          <p:cNvSpPr txBox="1"/>
          <p:nvPr/>
        </p:nvSpPr>
        <p:spPr>
          <a:xfrm rot="19786713">
            <a:off x="7702382" y="2913586"/>
            <a:ext cx="10424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600" b="0" i="0" dirty="0">
                <a:solidFill>
                  <a:schemeClr val="tx1"/>
                </a:solidFill>
                <a:effectLst/>
                <a:latin typeface="+mn-lt"/>
              </a:rPr>
              <a:t>📝</a:t>
            </a:r>
            <a:endParaRPr lang="de-DE" sz="96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5026C9F-E8A8-61BC-A2E2-935EF08B9544}"/>
              </a:ext>
            </a:extLst>
          </p:cNvPr>
          <p:cNvSpPr txBox="1"/>
          <p:nvPr/>
        </p:nvSpPr>
        <p:spPr>
          <a:xfrm>
            <a:off x="9496136" y="2673559"/>
            <a:ext cx="1320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0" dirty="0"/>
              <a:t>🔎</a:t>
            </a:r>
          </a:p>
        </p:txBody>
      </p:sp>
    </p:spTree>
    <p:extLst>
      <p:ext uri="{BB962C8B-B14F-4D97-AF65-F5344CB8AC3E}">
        <p14:creationId xmlns:p14="http://schemas.microsoft.com/office/powerpoint/2010/main" val="365883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81ECD9B-0FE5-DB9E-2A78-90335B9B658D}"/>
              </a:ext>
            </a:extLst>
          </p:cNvPr>
          <p:cNvSpPr txBox="1"/>
          <p:nvPr/>
        </p:nvSpPr>
        <p:spPr>
          <a:xfrm>
            <a:off x="1236173" y="2677975"/>
            <a:ext cx="26052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LLM-Wiki?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12525E-F8FD-A85E-AC2F-6E6C32D4C600}"/>
              </a:ext>
            </a:extLst>
          </p:cNvPr>
          <p:cNvSpPr txBox="1"/>
          <p:nvPr/>
        </p:nvSpPr>
        <p:spPr>
          <a:xfrm>
            <a:off x="1236172" y="3278312"/>
            <a:ext cx="49706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Was ist ein Wiki überhaupt und wie passt LLM dazu?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50CF915-10D9-8752-7535-CBAF8D708C78}"/>
              </a:ext>
            </a:extLst>
          </p:cNvPr>
          <p:cNvGrpSpPr/>
          <p:nvPr/>
        </p:nvGrpSpPr>
        <p:grpSpPr>
          <a:xfrm>
            <a:off x="6587197" y="1978861"/>
            <a:ext cx="6096000" cy="3154710"/>
            <a:chOff x="6587197" y="1978861"/>
            <a:chExt cx="6096000" cy="315471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EC478DF-A42E-FD8F-0FBA-04532102CC6F}"/>
                </a:ext>
              </a:extLst>
            </p:cNvPr>
            <p:cNvSpPr/>
            <p:nvPr/>
          </p:nvSpPr>
          <p:spPr>
            <a:xfrm>
              <a:off x="7191942" y="2295144"/>
              <a:ext cx="2372682" cy="2336696"/>
            </a:xfrm>
            <a:prstGeom prst="ellipse">
              <a:avLst/>
            </a:prstGeom>
            <a:effectLst>
              <a:outerShdw blurRad="76200" dist="38100" dir="10800000" sx="101000" sy="101000" algn="r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D729DD34-DA0E-8FB4-464B-3C675B5A6512}"/>
                </a:ext>
              </a:extLst>
            </p:cNvPr>
            <p:cNvSpPr txBox="1"/>
            <p:nvPr/>
          </p:nvSpPr>
          <p:spPr>
            <a:xfrm>
              <a:off x="6587197" y="1978861"/>
              <a:ext cx="6096000" cy="31547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9900" dirty="0"/>
                <a:t>🤔</a:t>
              </a:r>
              <a:endParaRPr lang="de-DE" sz="400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0E27035-8240-E5FE-BDD5-DA44158437B0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31F3D0A2-E497-6603-2ABB-33D2A7C3C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5968F36-1E37-D44E-24C1-09CE85E27006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2676E391-1DAB-26D1-0378-1DD706F1018E}"/>
              </a:ext>
            </a:extLst>
          </p:cNvPr>
          <p:cNvSpPr txBox="1"/>
          <p:nvPr/>
        </p:nvSpPr>
        <p:spPr>
          <a:xfrm>
            <a:off x="8579108" y="211406"/>
            <a:ext cx="33538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0" dirty="0"/>
              <a:t>💭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1BF8181-92EC-6AA6-78DE-88F6ADEBEACC}"/>
              </a:ext>
            </a:extLst>
          </p:cNvPr>
          <p:cNvSpPr txBox="1"/>
          <p:nvPr/>
        </p:nvSpPr>
        <p:spPr>
          <a:xfrm>
            <a:off x="9529688" y="811252"/>
            <a:ext cx="1452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/>
              <a:t>❔</a:t>
            </a:r>
          </a:p>
        </p:txBody>
      </p:sp>
    </p:spTree>
    <p:extLst>
      <p:ext uri="{BB962C8B-B14F-4D97-AF65-F5344CB8AC3E}">
        <p14:creationId xmlns:p14="http://schemas.microsoft.com/office/powerpoint/2010/main" val="320153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5A963-5424-C5CC-F98C-DF60C17A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E893546-5F4D-663E-9B20-8599B5EBFBAF}"/>
              </a:ext>
            </a:extLst>
          </p:cNvPr>
          <p:cNvSpPr txBox="1"/>
          <p:nvPr/>
        </p:nvSpPr>
        <p:spPr>
          <a:xfrm>
            <a:off x="-313626" y="232695"/>
            <a:ext cx="31740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0" dirty="0"/>
              <a:t>🕸️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D086FBE-C26E-E4B4-F167-F70BF6DE5F98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F36FE107-40AB-8B99-E70E-C58C89F68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AD42A24-63D9-938A-415E-B5063CD77632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E2E02A4-0561-2C75-A6DA-0ACF204F297F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0" name="Grafik 17">
              <a:extLst>
                <a:ext uri="{FF2B5EF4-FFF2-40B4-BE49-F238E27FC236}">
                  <a16:creationId xmlns:a16="http://schemas.microsoft.com/office/drawing/2014/main" id="{D6C841A4-3EE7-48E9-CE93-69FF75D49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8C45C7E6-C6FB-0C2D-B50D-6047BCF1B66F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97CE937F-ECA4-B982-087C-7BA09223D70F}"/>
              </a:ext>
            </a:extLst>
          </p:cNvPr>
          <p:cNvSpPr txBox="1"/>
          <p:nvPr/>
        </p:nvSpPr>
        <p:spPr>
          <a:xfrm rot="1058454">
            <a:off x="9712947" y="4656361"/>
            <a:ext cx="5773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600" b="0" i="0" dirty="0">
                <a:solidFill>
                  <a:schemeClr val="tx1"/>
                </a:solidFill>
                <a:effectLst/>
                <a:latin typeface="+mn-lt"/>
              </a:rPr>
              <a:t>⌛️</a:t>
            </a:r>
            <a:endParaRPr lang="de-DE" sz="96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032072C-2670-3A41-F499-5021AE76B4C6}"/>
              </a:ext>
            </a:extLst>
          </p:cNvPr>
          <p:cNvSpPr txBox="1"/>
          <p:nvPr/>
        </p:nvSpPr>
        <p:spPr>
          <a:xfrm rot="3694186">
            <a:off x="559776" y="215524"/>
            <a:ext cx="4041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600" b="0" i="0" dirty="0">
                <a:solidFill>
                  <a:schemeClr val="tx1"/>
                </a:solidFill>
                <a:effectLst/>
                <a:latin typeface="+mn-lt"/>
              </a:rPr>
              <a:t>🕷️</a:t>
            </a:r>
            <a:endParaRPr lang="de-DE" sz="96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4DC30CF-B7E0-F815-B422-AE36410785E7}"/>
              </a:ext>
            </a:extLst>
          </p:cNvPr>
          <p:cNvSpPr txBox="1"/>
          <p:nvPr/>
        </p:nvSpPr>
        <p:spPr>
          <a:xfrm>
            <a:off x="921751" y="998572"/>
            <a:ext cx="729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b="0" i="0" dirty="0">
                <a:solidFill>
                  <a:schemeClr val="tx1"/>
                </a:solidFill>
                <a:effectLst/>
                <a:latin typeface="+mn-lt"/>
              </a:rPr>
              <a:t>🎓</a:t>
            </a:r>
            <a:endParaRPr lang="de-DE" sz="4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012DE53-223A-44B7-769E-5D68D81274C1}"/>
              </a:ext>
            </a:extLst>
          </p:cNvPr>
          <p:cNvSpPr txBox="1"/>
          <p:nvPr/>
        </p:nvSpPr>
        <p:spPr>
          <a:xfrm>
            <a:off x="862327" y="1651590"/>
            <a:ext cx="8017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	Wiki, ein Wissensnetz:</a:t>
            </a:r>
          </a:p>
          <a:p>
            <a:b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</a:br>
            <a:endParaRPr lang="de-DE" sz="32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4B57B5F-76F7-8957-E1E6-D41A65F4E1FF}"/>
              </a:ext>
            </a:extLst>
          </p:cNvPr>
          <p:cNvSpPr txBox="1"/>
          <p:nvPr/>
        </p:nvSpPr>
        <p:spPr>
          <a:xfrm>
            <a:off x="2190372" y="2427718"/>
            <a:ext cx="9717579" cy="2237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 err="1"/>
              <a:t>Wissenseiten</a:t>
            </a:r>
            <a:r>
              <a:rPr lang="de-DE" sz="3200" dirty="0"/>
              <a:t> werden strukturiert gesammelt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Inhalte sind miteinander verlinkt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Wissen ist thematisch organisiert statt nur abgelegt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767096-CE2C-C005-859A-1EAF17C4563D}"/>
              </a:ext>
            </a:extLst>
          </p:cNvPr>
          <p:cNvSpPr txBox="1"/>
          <p:nvPr/>
        </p:nvSpPr>
        <p:spPr>
          <a:xfrm>
            <a:off x="3449247" y="5178443"/>
            <a:ext cx="9079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3200" dirty="0">
                <a:sym typeface="Wingdings" panose="05000000000000000000" pitchFamily="2" charset="2"/>
              </a:rPr>
              <a:t></a:t>
            </a:r>
            <a:r>
              <a:rPr lang="de-DE" sz="3200" dirty="0"/>
              <a:t> Nachteil? Die Pflege ist aufwendig..</a:t>
            </a:r>
          </a:p>
        </p:txBody>
      </p:sp>
    </p:spTree>
    <p:extLst>
      <p:ext uri="{BB962C8B-B14F-4D97-AF65-F5344CB8AC3E}">
        <p14:creationId xmlns:p14="http://schemas.microsoft.com/office/powerpoint/2010/main" val="355934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8" grpId="0" build="allAtOnce"/>
      <p:bldP spid="20" grpId="0" build="allAtOnce"/>
      <p:bldP spid="17" grpId="0" build="allAtOnce"/>
      <p:bldP spid="18" grpId="0"/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51C8A-4B1B-F266-2843-7B027A54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D0031F5-230E-4541-5A35-E4CB5DE7BCCB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26C7185E-D577-34F5-4B03-F48CB8A23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CEF375F-7192-AB2A-C526-F32E723E56B0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15D44291-F24A-8257-A2D5-8BA7A76F4B78}"/>
              </a:ext>
            </a:extLst>
          </p:cNvPr>
          <p:cNvSpPr txBox="1"/>
          <p:nvPr/>
        </p:nvSpPr>
        <p:spPr>
          <a:xfrm rot="7868076">
            <a:off x="942700" y="1205064"/>
            <a:ext cx="23583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0" b="0" i="0" dirty="0">
                <a:solidFill>
                  <a:schemeClr val="tx1"/>
                </a:solidFill>
                <a:effectLst/>
                <a:latin typeface="+mn-lt"/>
              </a:rPr>
              <a:t>🌀</a:t>
            </a:r>
            <a:endParaRPr lang="de-DE" sz="1800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D393B9C-F317-7FC6-3863-D1753C8028C2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0" name="Grafik 17">
              <a:extLst>
                <a:ext uri="{FF2B5EF4-FFF2-40B4-BE49-F238E27FC236}">
                  <a16:creationId xmlns:a16="http://schemas.microsoft.com/office/drawing/2014/main" id="{A536EDE6-F807-ADEC-9428-133325A3D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EDD7736-D977-A787-8269-1D9137072F1A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79F4E539-073E-A7D8-77B6-7328006C3A48}"/>
              </a:ext>
            </a:extLst>
          </p:cNvPr>
          <p:cNvSpPr txBox="1"/>
          <p:nvPr/>
        </p:nvSpPr>
        <p:spPr>
          <a:xfrm>
            <a:off x="1644055" y="786446"/>
            <a:ext cx="9859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Automatisierte Wiki-Pflege</a:t>
            </a:r>
            <a:endParaRPr lang="de-DE" sz="32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6A643EF-5849-BC89-C701-F781BBC0E51F}"/>
              </a:ext>
            </a:extLst>
          </p:cNvPr>
          <p:cNvSpPr txBox="1"/>
          <p:nvPr/>
        </p:nvSpPr>
        <p:spPr>
          <a:xfrm>
            <a:off x="3076215" y="1771081"/>
            <a:ext cx="9115785" cy="44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LLMs können Dokumente lesen und zusammenfassen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Informationen aus mehreren Quellen vergleichen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Wissen automatisch strukturieren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Bestehende Seiten ergänzen und aktualisieren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7E90038-94EC-EF75-5E7D-537056F93AF6}"/>
              </a:ext>
            </a:extLst>
          </p:cNvPr>
          <p:cNvSpPr txBox="1"/>
          <p:nvPr/>
        </p:nvSpPr>
        <p:spPr>
          <a:xfrm rot="509901">
            <a:off x="231763" y="1799521"/>
            <a:ext cx="4923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800" b="0" i="0" dirty="0">
                <a:solidFill>
                  <a:schemeClr val="tx1"/>
                </a:solidFill>
                <a:effectLst/>
                <a:latin typeface="+mn-lt"/>
              </a:rPr>
              <a:t>🧹</a:t>
            </a:r>
            <a:endParaRPr lang="de-DE" sz="88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DEEDE57-A991-604A-07CF-C8042C39F121}"/>
              </a:ext>
            </a:extLst>
          </p:cNvPr>
          <p:cNvSpPr txBox="1"/>
          <p:nvPr/>
        </p:nvSpPr>
        <p:spPr>
          <a:xfrm>
            <a:off x="1773117" y="2003752"/>
            <a:ext cx="11224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200" dirty="0"/>
              <a:t>🔍</a:t>
            </a:r>
            <a:r>
              <a:rPr lang="de-DE" dirty="0"/>
              <a:t> </a:t>
            </a:r>
            <a:endParaRPr lang="de-DE" sz="7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AD6FB77-DDCD-BEB8-B205-174CD78AE45F}"/>
              </a:ext>
            </a:extLst>
          </p:cNvPr>
          <p:cNvSpPr txBox="1"/>
          <p:nvPr/>
        </p:nvSpPr>
        <p:spPr>
          <a:xfrm rot="1098913">
            <a:off x="931166" y="3284702"/>
            <a:ext cx="13452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6000" b="0" i="0" dirty="0">
                <a:solidFill>
                  <a:schemeClr val="tx1"/>
                </a:solidFill>
                <a:effectLst/>
                <a:latin typeface="+mn-lt"/>
              </a:rPr>
              <a:t>📝</a:t>
            </a:r>
            <a:endParaRPr lang="de-DE" sz="6000" dirty="0"/>
          </a:p>
        </p:txBody>
      </p:sp>
    </p:spTree>
    <p:extLst>
      <p:ext uri="{BB962C8B-B14F-4D97-AF65-F5344CB8AC3E}">
        <p14:creationId xmlns:p14="http://schemas.microsoft.com/office/powerpoint/2010/main" val="8768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" grpId="0"/>
      <p:bldP spid="19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2AD54-26DD-B7E9-A5A9-5672076D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DBCE0F6-D69D-CE57-7DAE-63C557913DA4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27711205-185D-0C16-0F03-F6D3ADA77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D82A722C-6DE6-90FD-1077-C6E627BD3D0F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6E6A43-5936-1942-31FD-D197FE9241D2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0" name="Grafik 17">
              <a:extLst>
                <a:ext uri="{FF2B5EF4-FFF2-40B4-BE49-F238E27FC236}">
                  <a16:creationId xmlns:a16="http://schemas.microsoft.com/office/drawing/2014/main" id="{96FFFA89-0A02-41EF-7BAA-CA92DE14D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EA9FAF8-8B94-FD10-31E2-473730625698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40296490-6890-F3A4-0794-81341054CAED}"/>
              </a:ext>
            </a:extLst>
          </p:cNvPr>
          <p:cNvSpPr txBox="1"/>
          <p:nvPr/>
        </p:nvSpPr>
        <p:spPr>
          <a:xfrm>
            <a:off x="1187302" y="1333502"/>
            <a:ext cx="98173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Eine Idee nach Andrej Karpathy:</a:t>
            </a:r>
          </a:p>
          <a:p>
            <a:b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</a:br>
            <a:endParaRPr lang="de-DE" sz="32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CE98EBC-C149-E6FB-BB3E-9F3D7502CC37}"/>
              </a:ext>
            </a:extLst>
          </p:cNvPr>
          <p:cNvSpPr txBox="1"/>
          <p:nvPr/>
        </p:nvSpPr>
        <p:spPr>
          <a:xfrm>
            <a:off x="766140" y="2454239"/>
            <a:ext cx="9233645" cy="1252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de-DE" sz="3200" dirty="0"/>
              <a:t>Bekannter KI-Forscher und Entwickler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2026 stellte er seinen Ansatz des „LLM-Wiki“ vor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7754F42-7354-566C-166D-FC4AFD388372}"/>
              </a:ext>
            </a:extLst>
          </p:cNvPr>
          <p:cNvSpPr txBox="1"/>
          <p:nvPr/>
        </p:nvSpPr>
        <p:spPr>
          <a:xfrm>
            <a:off x="1187302" y="4210779"/>
            <a:ext cx="9079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3200" dirty="0">
                <a:sym typeface="Wingdings" panose="05000000000000000000" pitchFamily="2" charset="2"/>
              </a:rPr>
              <a:t></a:t>
            </a:r>
            <a:r>
              <a:rPr lang="de-DE" sz="3200" dirty="0"/>
              <a:t> LLM-Wiki: Ein System mit 3 Ebenen</a:t>
            </a:r>
          </a:p>
        </p:txBody>
      </p:sp>
    </p:spTree>
    <p:extLst>
      <p:ext uri="{BB962C8B-B14F-4D97-AF65-F5344CB8AC3E}">
        <p14:creationId xmlns:p14="http://schemas.microsoft.com/office/powerpoint/2010/main" val="2008283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96700-65CB-5F78-78CC-0F9FCBF85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8F7E7DC0-1C93-7E62-9383-ED2129AB4D4C}"/>
              </a:ext>
            </a:extLst>
          </p:cNvPr>
          <p:cNvSpPr txBox="1"/>
          <p:nvPr/>
        </p:nvSpPr>
        <p:spPr>
          <a:xfrm>
            <a:off x="1624847" y="1971774"/>
            <a:ext cx="9800593" cy="291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200000"/>
              </a:lnSpc>
            </a:pPr>
            <a:r>
              <a:rPr lang="de-DE" sz="3200" b="1" dirty="0"/>
              <a:t>Rohquellen</a:t>
            </a:r>
            <a:r>
              <a:rPr lang="de-DE" sz="3200" dirty="0"/>
              <a:t> – Paper, PDFs, Webseiten, Notizen</a:t>
            </a:r>
          </a:p>
          <a:p>
            <a:pPr lvl="1">
              <a:lnSpc>
                <a:spcPct val="200000"/>
              </a:lnSpc>
            </a:pPr>
            <a:r>
              <a:rPr lang="de-DE" sz="3200" b="1" dirty="0"/>
              <a:t>Wiki</a:t>
            </a:r>
            <a:r>
              <a:rPr lang="de-DE" sz="3200" dirty="0"/>
              <a:t> – strukturierte Markdown-Seiten</a:t>
            </a:r>
          </a:p>
          <a:p>
            <a:pPr lvl="1">
              <a:lnSpc>
                <a:spcPct val="200000"/>
              </a:lnSpc>
            </a:pPr>
            <a:r>
              <a:rPr lang="de-DE" sz="3200" b="1" dirty="0"/>
              <a:t>Regeln / Schema</a:t>
            </a:r>
            <a:r>
              <a:rPr lang="de-DE" sz="3200" dirty="0"/>
              <a:t> – Vorgaben für Aufbau und Pflege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966CA9F-F602-6A9C-3E82-C333665C6AC9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58FC986E-5CD7-6745-40CA-E04B05B18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C4D9198-6B18-86AC-941E-383E4F26AA4F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242F5496-B279-FE64-4976-C967FF7A7FDB}"/>
              </a:ext>
            </a:extLst>
          </p:cNvPr>
          <p:cNvSpPr txBox="1"/>
          <p:nvPr/>
        </p:nvSpPr>
        <p:spPr>
          <a:xfrm>
            <a:off x="1624847" y="846186"/>
            <a:ext cx="37445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Das Konzept:</a:t>
            </a:r>
          </a:p>
          <a:p>
            <a:b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</a:br>
            <a:endParaRPr lang="de-DE" sz="32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799E7CD-80DC-CBBB-1777-93B5835D4925}"/>
              </a:ext>
            </a:extLst>
          </p:cNvPr>
          <p:cNvSpPr txBox="1"/>
          <p:nvPr/>
        </p:nvSpPr>
        <p:spPr>
          <a:xfrm>
            <a:off x="-219286" y="615354"/>
            <a:ext cx="205980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0" b="0" i="0" dirty="0">
                <a:solidFill>
                  <a:schemeClr val="tx1"/>
                </a:solidFill>
                <a:effectLst/>
                <a:latin typeface="+mn-lt"/>
              </a:rPr>
              <a:t>📎</a:t>
            </a:r>
            <a:endParaRPr lang="de-DE" sz="15000" dirty="0"/>
          </a:p>
        </p:txBody>
      </p:sp>
    </p:spTree>
    <p:extLst>
      <p:ext uri="{BB962C8B-B14F-4D97-AF65-F5344CB8AC3E}">
        <p14:creationId xmlns:p14="http://schemas.microsoft.com/office/powerpoint/2010/main" val="106632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D70CC-B5DD-81FE-2ABC-04A979D2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7A6A5E6-FB6A-7164-64C9-0408CFDBDCC8}"/>
              </a:ext>
            </a:extLst>
          </p:cNvPr>
          <p:cNvSpPr txBox="1"/>
          <p:nvPr/>
        </p:nvSpPr>
        <p:spPr>
          <a:xfrm>
            <a:off x="499932" y="939725"/>
            <a:ext cx="37445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Vorteile:</a:t>
            </a:r>
          </a:p>
          <a:p>
            <a:b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</a:br>
            <a:endParaRPr lang="de-DE" sz="32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AB04B5D-8100-09BB-90F1-AFBB1186B71A}"/>
              </a:ext>
            </a:extLst>
          </p:cNvPr>
          <p:cNvSpPr txBox="1"/>
          <p:nvPr/>
        </p:nvSpPr>
        <p:spPr>
          <a:xfrm>
            <a:off x="499931" y="1909221"/>
            <a:ext cx="11682833" cy="297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LLM startet nicht bei jeder Anfrage wieder bei null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Wissen wird </a:t>
            </a:r>
            <a:r>
              <a:rPr lang="de-DE" sz="3200" b="1" dirty="0"/>
              <a:t>dauerhaft aufbereitet und gespeichert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Neue Quellen können bestehende Seiten erweitern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Zusammenhänge und Widersprüche können erkannt werden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4168F67-6D1B-5A99-4220-0F86B8F83C21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E50B34FA-8298-057F-024A-201B71557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E3BE836-6C95-18D8-03FC-7729F46430F5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AF1ECE55-6C25-4409-FF52-47CADDB0565C}"/>
              </a:ext>
            </a:extLst>
          </p:cNvPr>
          <p:cNvSpPr txBox="1"/>
          <p:nvPr/>
        </p:nvSpPr>
        <p:spPr>
          <a:xfrm>
            <a:off x="3077922" y="5333500"/>
            <a:ext cx="8217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de-DE" sz="3200" dirty="0">
                <a:sym typeface="Wingdings" panose="05000000000000000000" pitchFamily="2" charset="2"/>
              </a:rPr>
              <a:t> </a:t>
            </a:r>
            <a:r>
              <a:rPr lang="de-DE" sz="3200" dirty="0"/>
              <a:t>Ergebnis: </a:t>
            </a:r>
            <a:r>
              <a:rPr lang="de-DE" sz="3200" b="1" dirty="0"/>
              <a:t>eine wachsende Wissensbasis</a:t>
            </a:r>
            <a:endParaRPr lang="de-DE" sz="3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A5F5557-B34B-1E96-E89A-411C5B5DFE29}"/>
              </a:ext>
            </a:extLst>
          </p:cNvPr>
          <p:cNvSpPr txBox="1"/>
          <p:nvPr/>
        </p:nvSpPr>
        <p:spPr>
          <a:xfrm>
            <a:off x="9650580" y="757668"/>
            <a:ext cx="168812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000" dirty="0"/>
              <a:t>🌞</a:t>
            </a:r>
          </a:p>
        </p:txBody>
      </p:sp>
    </p:spTree>
    <p:extLst>
      <p:ext uri="{BB962C8B-B14F-4D97-AF65-F5344CB8AC3E}">
        <p14:creationId xmlns:p14="http://schemas.microsoft.com/office/powerpoint/2010/main" val="230466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D8095-20D7-0C21-DB92-6957DB64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D033AFE-2F96-5444-D986-9ADF711839C5}"/>
              </a:ext>
            </a:extLst>
          </p:cNvPr>
          <p:cNvSpPr txBox="1">
            <a:spLocks/>
          </p:cNvSpPr>
          <p:nvPr/>
        </p:nvSpPr>
        <p:spPr>
          <a:xfrm>
            <a:off x="1553165" y="1921651"/>
            <a:ext cx="12702565" cy="4401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LLM kann Inhalte falsch zusammenfassen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Gefahr von Halluzinationen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Falsche Zusammenhänge können entstehen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Schwieriger Umgang mit widersprüchlichen Quellen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3200" dirty="0"/>
              <a:t>Skalierung bei sehr großen Wissensbeständen schwierig</a:t>
            </a:r>
          </a:p>
          <a:p>
            <a:pPr algn="l">
              <a:lnSpc>
                <a:spcPct val="150000"/>
              </a:lnSpc>
            </a:pPr>
            <a:endParaRPr lang="de-DE" sz="32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BB7C776-DF6D-905C-F00A-2ABC058C2745}"/>
              </a:ext>
            </a:extLst>
          </p:cNvPr>
          <p:cNvSpPr txBox="1"/>
          <p:nvPr/>
        </p:nvSpPr>
        <p:spPr>
          <a:xfrm>
            <a:off x="748493" y="1057178"/>
            <a:ext cx="60149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Grenzen des LLM-Wiki: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A88FBCB-ABF5-E657-4DF4-A8817FCE4514}"/>
              </a:ext>
            </a:extLst>
          </p:cNvPr>
          <p:cNvGrpSpPr/>
          <p:nvPr/>
        </p:nvGrpSpPr>
        <p:grpSpPr>
          <a:xfrm>
            <a:off x="8909696" y="783786"/>
            <a:ext cx="6096000" cy="3154710"/>
            <a:chOff x="6533584" y="1892485"/>
            <a:chExt cx="6096000" cy="315471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1096EBF-F282-D3E6-D1B9-DEDC46C1B517}"/>
                </a:ext>
              </a:extLst>
            </p:cNvPr>
            <p:cNvSpPr/>
            <p:nvPr/>
          </p:nvSpPr>
          <p:spPr>
            <a:xfrm>
              <a:off x="7557042" y="3301360"/>
              <a:ext cx="1449798" cy="1353528"/>
            </a:xfrm>
            <a:prstGeom prst="ellipse">
              <a:avLst/>
            </a:prstGeom>
            <a:effectLst>
              <a:outerShdw blurRad="76200" dist="38100" dir="10800000" sx="101000" sy="101000" algn="r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9C127133-9710-C083-F687-5DDFB9A21B47}"/>
                </a:ext>
              </a:extLst>
            </p:cNvPr>
            <p:cNvSpPr txBox="1"/>
            <p:nvPr/>
          </p:nvSpPr>
          <p:spPr>
            <a:xfrm>
              <a:off x="6533584" y="1892485"/>
              <a:ext cx="6096000" cy="31547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9900" dirty="0"/>
                <a:t>☝️</a:t>
              </a:r>
              <a:endParaRPr lang="de-DE" sz="400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4E9793A-2A61-1476-6EF2-440D8D69DD3E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2" name="Grafik 17">
              <a:extLst>
                <a:ext uri="{FF2B5EF4-FFF2-40B4-BE49-F238E27FC236}">
                  <a16:creationId xmlns:a16="http://schemas.microsoft.com/office/drawing/2014/main" id="{27EA5006-7E08-7A91-8A0A-631AA5198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B08D4A3-1496-608D-DA9A-E745513F1DFA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351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0BA10-00AE-3EAD-1FAA-880FA660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>
            <a:extLst>
              <a:ext uri="{FF2B5EF4-FFF2-40B4-BE49-F238E27FC236}">
                <a16:creationId xmlns:a16="http://schemas.microsoft.com/office/drawing/2014/main" id="{29696393-996F-BE93-C9A7-B3AB713C13F3}"/>
              </a:ext>
            </a:extLst>
          </p:cNvPr>
          <p:cNvSpPr txBox="1"/>
          <p:nvPr/>
        </p:nvSpPr>
        <p:spPr>
          <a:xfrm>
            <a:off x="1236173" y="2844225"/>
            <a:ext cx="8189181" cy="297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3200" dirty="0">
                <a:sym typeface="Wingdings" panose="05000000000000000000" pitchFamily="2" charset="2"/>
              </a:rPr>
              <a:t> </a:t>
            </a:r>
            <a:r>
              <a:rPr lang="de-DE" sz="3200" dirty="0"/>
              <a:t>Änderungen an bestehenden Seiten müssen kontrolliert werden</a:t>
            </a:r>
          </a:p>
          <a:p>
            <a:pPr>
              <a:lnSpc>
                <a:spcPct val="150000"/>
              </a:lnSpc>
            </a:pPr>
            <a:r>
              <a:rPr lang="de-DE" sz="3200" dirty="0">
                <a:sym typeface="Wingdings" panose="05000000000000000000" pitchFamily="2" charset="2"/>
              </a:rPr>
              <a:t> </a:t>
            </a:r>
            <a:r>
              <a:rPr lang="de-DE" sz="3200" dirty="0"/>
              <a:t>Nachvollziehbarkeit der Quellen ist wichtig</a:t>
            </a:r>
          </a:p>
          <a:p>
            <a:pPr>
              <a:lnSpc>
                <a:spcPct val="150000"/>
              </a:lnSpc>
            </a:pPr>
            <a:r>
              <a:rPr lang="de-DE" sz="3200" dirty="0">
                <a:sym typeface="Wingdings" panose="05000000000000000000" pitchFamily="2" charset="2"/>
              </a:rPr>
              <a:t> </a:t>
            </a:r>
            <a:r>
              <a:rPr lang="de-DE" sz="3200" dirty="0"/>
              <a:t>Menschliche Kontrolle bleibt notwendig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49669FE-EBA8-C093-09F5-798D204FDEB8}"/>
              </a:ext>
            </a:extLst>
          </p:cNvPr>
          <p:cNvSpPr txBox="1"/>
          <p:nvPr/>
        </p:nvSpPr>
        <p:spPr>
          <a:xfrm>
            <a:off x="924968" y="2178913"/>
            <a:ext cx="15776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400" b="1" dirty="0">
                <a:effectLst>
                  <a:outerShdw blurRad="88900" dist="38100" dir="8100000" sx="101000" sy="101000" algn="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Fazit:</a:t>
            </a:r>
            <a:endParaRPr lang="de-DE" sz="4400" b="1" dirty="0">
              <a:effectLst>
                <a:outerShdw blurRad="88900" dist="38100" dir="8100000" sx="101000" sy="101000" algn="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8F2565B-ACA7-2682-0163-CFAFB9598081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5" name="Grafik 17">
              <a:extLst>
                <a:ext uri="{FF2B5EF4-FFF2-40B4-BE49-F238E27FC236}">
                  <a16:creationId xmlns:a16="http://schemas.microsoft.com/office/drawing/2014/main" id="{E3AC91BE-B13A-828E-7DD0-9683212D1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69B1EFB-C06B-F127-6F5D-077FA949ED6E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0FB86033-8AE6-01F1-78A8-4DEBA4481F2E}"/>
              </a:ext>
            </a:extLst>
          </p:cNvPr>
          <p:cNvSpPr txBox="1"/>
          <p:nvPr/>
        </p:nvSpPr>
        <p:spPr>
          <a:xfrm>
            <a:off x="7961091" y="747752"/>
            <a:ext cx="32768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0" dirty="0"/>
              <a:t>💻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034AA8-8A91-0573-1695-A522264B4A0E}"/>
              </a:ext>
            </a:extLst>
          </p:cNvPr>
          <p:cNvSpPr txBox="1"/>
          <p:nvPr/>
        </p:nvSpPr>
        <p:spPr>
          <a:xfrm>
            <a:off x="8874370" y="1383756"/>
            <a:ext cx="31652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0" b="0" i="0" dirty="0">
                <a:solidFill>
                  <a:schemeClr val="tx1"/>
                </a:solidFill>
                <a:effectLst/>
                <a:latin typeface="+mn-lt"/>
              </a:rPr>
              <a:t>🕵️</a:t>
            </a:r>
            <a:endParaRPr lang="de-DE" sz="18000" dirty="0"/>
          </a:p>
        </p:txBody>
      </p:sp>
    </p:spTree>
    <p:extLst>
      <p:ext uri="{BB962C8B-B14F-4D97-AF65-F5344CB8AC3E}">
        <p14:creationId xmlns:p14="http://schemas.microsoft.com/office/powerpoint/2010/main" val="215577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125AB-8F46-1713-7584-7C85652A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C88F36EB-55A9-7BD4-FE61-A0D0068C8DC5}"/>
              </a:ext>
            </a:extLst>
          </p:cNvPr>
          <p:cNvGrpSpPr>
            <a:grpSpLocks noChangeAspect="1"/>
          </p:cNvGrpSpPr>
          <p:nvPr/>
        </p:nvGrpSpPr>
        <p:grpSpPr>
          <a:xfrm>
            <a:off x="11237892" y="23153"/>
            <a:ext cx="954108" cy="561650"/>
            <a:chOff x="11607679" y="71576"/>
            <a:chExt cx="491754" cy="289479"/>
          </a:xfrm>
        </p:grpSpPr>
        <p:pic>
          <p:nvPicPr>
            <p:cNvPr id="16" name="Grafik 17">
              <a:extLst>
                <a:ext uri="{FF2B5EF4-FFF2-40B4-BE49-F238E27FC236}">
                  <a16:creationId xmlns:a16="http://schemas.microsoft.com/office/drawing/2014/main" id="{022D27FD-2819-2CCF-94EF-44D90BF49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>
            <a:xfrm>
              <a:off x="11637524" y="71576"/>
              <a:ext cx="457149" cy="216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53B34166-872D-611F-F40F-394DDD95BF90}"/>
                </a:ext>
              </a:extLst>
            </p:cNvPr>
            <p:cNvSpPr txBox="1"/>
            <p:nvPr/>
          </p:nvSpPr>
          <p:spPr>
            <a:xfrm>
              <a:off x="11607679" y="234151"/>
              <a:ext cx="491754" cy="1269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rgbClr val="81828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CR A Extended" panose="02010509020102010303" pitchFamily="50" charset="0"/>
                </a:rPr>
                <a:t>LIVING LAB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DBAB7AF8-5A30-EB96-673B-6403B2E0D622}"/>
              </a:ext>
            </a:extLst>
          </p:cNvPr>
          <p:cNvSpPr txBox="1"/>
          <p:nvPr/>
        </p:nvSpPr>
        <p:spPr>
          <a:xfrm>
            <a:off x="2172490" y="2240417"/>
            <a:ext cx="784702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5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Vielen Dank für eure Aufmerksamkeit!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15F1B9E-8B99-3122-1091-9578BE1401B9}"/>
              </a:ext>
            </a:extLst>
          </p:cNvPr>
          <p:cNvSpPr txBox="1"/>
          <p:nvPr/>
        </p:nvSpPr>
        <p:spPr>
          <a:xfrm>
            <a:off x="3048762" y="2871359"/>
            <a:ext cx="60944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🙌</a:t>
            </a:r>
            <a:endParaRPr lang="de-DE" sz="10000" dirty="0"/>
          </a:p>
        </p:txBody>
      </p:sp>
    </p:spTree>
    <p:extLst>
      <p:ext uri="{BB962C8B-B14F-4D97-AF65-F5344CB8AC3E}">
        <p14:creationId xmlns:p14="http://schemas.microsoft.com/office/powerpoint/2010/main" val="2853959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5F0594-9AB2-429A-8E08-1C15448D7ADB}">
  <we:reference id="wa104381909" version="3.12.0.0" store="de-DE" storeType="OMEX"/>
  <we:alternateReferences>
    <we:reference id="WA104381909" version="3.12.0.0" store="WA1043819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Breitbild</PresentationFormat>
  <Paragraphs>87</Paragraphs>
  <Slides>10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Microsoft YaHei Light</vt:lpstr>
      <vt:lpstr>Aptos</vt:lpstr>
      <vt:lpstr>Aptos Display</vt:lpstr>
      <vt:lpstr>Arial</vt:lpstr>
      <vt:lpstr>OCR A Extended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Welz, Oliver</dc:creator>
  <cp:lastModifiedBy>Pfütze, Christin Marion</cp:lastModifiedBy>
  <cp:revision>164</cp:revision>
  <cp:lastPrinted>2026-09-15T13:33:51Z</cp:lastPrinted>
  <dcterms:created xsi:type="dcterms:W3CDTF">2025-01-27T10:28:19Z</dcterms:created>
  <dcterms:modified xsi:type="dcterms:W3CDTF">2026-10-14T13:16:13Z</dcterms:modified>
</cp:coreProperties>
</file>